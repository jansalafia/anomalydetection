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32918400" cy="21945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0" d="100"/>
          <a:sy n="20" d="100"/>
        </p:scale>
        <p:origin x="1738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3591562"/>
            <a:ext cx="27980640" cy="7640320"/>
          </a:xfrm>
        </p:spPr>
        <p:txBody>
          <a:bodyPr anchor="b"/>
          <a:lstStyle>
            <a:lvl1pPr algn="ctr">
              <a:defRPr sz="19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0" y="11526522"/>
            <a:ext cx="24688800" cy="5298438"/>
          </a:xfrm>
        </p:spPr>
        <p:txBody>
          <a:bodyPr/>
          <a:lstStyle>
            <a:lvl1pPr marL="0" indent="0" algn="ctr">
              <a:buNone/>
              <a:defRPr sz="7680"/>
            </a:lvl1pPr>
            <a:lvl2pPr marL="1463040" indent="0" algn="ctr">
              <a:buNone/>
              <a:defRPr sz="6400"/>
            </a:lvl2pPr>
            <a:lvl3pPr marL="2926080" indent="0" algn="ctr">
              <a:buNone/>
              <a:defRPr sz="5760"/>
            </a:lvl3pPr>
            <a:lvl4pPr marL="4389120" indent="0" algn="ctr">
              <a:buNone/>
              <a:defRPr sz="5120"/>
            </a:lvl4pPr>
            <a:lvl5pPr marL="5852160" indent="0" algn="ctr">
              <a:buNone/>
              <a:defRPr sz="5120"/>
            </a:lvl5pPr>
            <a:lvl6pPr marL="7315200" indent="0" algn="ctr">
              <a:buNone/>
              <a:defRPr sz="5120"/>
            </a:lvl6pPr>
            <a:lvl7pPr marL="8778240" indent="0" algn="ctr">
              <a:buNone/>
              <a:defRPr sz="5120"/>
            </a:lvl7pPr>
            <a:lvl8pPr marL="10241280" indent="0" algn="ctr">
              <a:buNone/>
              <a:defRPr sz="5120"/>
            </a:lvl8pPr>
            <a:lvl9pPr marL="11704320" indent="0" algn="ctr">
              <a:buNone/>
              <a:defRPr sz="51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4A4CC-C1E4-43A3-84BB-6005C5A41B02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3A9CC-3928-45D9-9842-9818140D9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470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4A4CC-C1E4-43A3-84BB-6005C5A41B02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3A9CC-3928-45D9-9842-9818140D9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836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5997" y="5471167"/>
            <a:ext cx="28392120" cy="9128758"/>
          </a:xfrm>
        </p:spPr>
        <p:txBody>
          <a:bodyPr anchor="b"/>
          <a:lstStyle>
            <a:lvl1pPr>
              <a:defRPr sz="19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5997" y="14686287"/>
            <a:ext cx="28392120" cy="4800598"/>
          </a:xfrm>
        </p:spPr>
        <p:txBody>
          <a:bodyPr/>
          <a:lstStyle>
            <a:lvl1pPr marL="0" indent="0">
              <a:buNone/>
              <a:defRPr sz="7680">
                <a:solidFill>
                  <a:schemeClr val="tx1"/>
                </a:solidFill>
              </a:defRPr>
            </a:lvl1pPr>
            <a:lvl2pPr marL="146304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2pPr>
            <a:lvl3pPr marL="292608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3pPr>
            <a:lvl4pPr marL="438912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4pPr>
            <a:lvl5pPr marL="585216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5pPr>
            <a:lvl6pPr marL="731520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6pPr>
            <a:lvl7pPr marL="877824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7pPr>
            <a:lvl8pPr marL="1024128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8pPr>
            <a:lvl9pPr marL="1170432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4A4CC-C1E4-43A3-84BB-6005C5A41B02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3A9CC-3928-45D9-9842-9818140D9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878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63140" y="5842000"/>
            <a:ext cx="13990320" cy="13924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664940" y="5842000"/>
            <a:ext cx="13990320" cy="13924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4A4CC-C1E4-43A3-84BB-6005C5A41B02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3A9CC-3928-45D9-9842-9818140D9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123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168405"/>
            <a:ext cx="28392120" cy="42418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7431" y="5379722"/>
            <a:ext cx="13926024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7431" y="8016240"/>
            <a:ext cx="13926024" cy="11790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664942" y="5379722"/>
            <a:ext cx="13994608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664942" y="8016240"/>
            <a:ext cx="13994608" cy="11790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4A4CC-C1E4-43A3-84BB-6005C5A41B02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3A9CC-3928-45D9-9842-9818140D9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266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4A4CC-C1E4-43A3-84BB-6005C5A41B02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3A9CC-3928-45D9-9842-9818140D9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842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4A4CC-C1E4-43A3-84BB-6005C5A41B02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3A9CC-3928-45D9-9842-9818140D9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55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463040"/>
            <a:ext cx="10617041" cy="5120640"/>
          </a:xfrm>
        </p:spPr>
        <p:txBody>
          <a:bodyPr anchor="b"/>
          <a:lstStyle>
            <a:lvl1pPr>
              <a:defRPr sz="10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4608" y="3159765"/>
            <a:ext cx="16664940" cy="15595600"/>
          </a:xfrm>
        </p:spPr>
        <p:txBody>
          <a:bodyPr/>
          <a:lstStyle>
            <a:lvl1pPr>
              <a:defRPr sz="10240"/>
            </a:lvl1pPr>
            <a:lvl2pPr>
              <a:defRPr sz="8960"/>
            </a:lvl2pPr>
            <a:lvl3pPr>
              <a:defRPr sz="7680"/>
            </a:lvl3pPr>
            <a:lvl4pPr>
              <a:defRPr sz="6400"/>
            </a:lvl4pPr>
            <a:lvl5pPr>
              <a:defRPr sz="6400"/>
            </a:lvl5pPr>
            <a:lvl6pPr>
              <a:defRPr sz="6400"/>
            </a:lvl6pPr>
            <a:lvl7pPr>
              <a:defRPr sz="6400"/>
            </a:lvl7pPr>
            <a:lvl8pPr>
              <a:defRPr sz="6400"/>
            </a:lvl8pPr>
            <a:lvl9pPr>
              <a:defRPr sz="6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6583680"/>
            <a:ext cx="10617041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040" indent="0">
              <a:buNone/>
              <a:defRPr sz="4480"/>
            </a:lvl2pPr>
            <a:lvl3pPr marL="2926080" indent="0">
              <a:buNone/>
              <a:defRPr sz="3840"/>
            </a:lvl3pPr>
            <a:lvl4pPr marL="4389120" indent="0">
              <a:buNone/>
              <a:defRPr sz="3200"/>
            </a:lvl4pPr>
            <a:lvl5pPr marL="5852160" indent="0">
              <a:buNone/>
              <a:defRPr sz="3200"/>
            </a:lvl5pPr>
            <a:lvl6pPr marL="7315200" indent="0">
              <a:buNone/>
              <a:defRPr sz="3200"/>
            </a:lvl6pPr>
            <a:lvl7pPr marL="8778240" indent="0">
              <a:buNone/>
              <a:defRPr sz="3200"/>
            </a:lvl7pPr>
            <a:lvl8pPr marL="10241280" indent="0">
              <a:buNone/>
              <a:defRPr sz="3200"/>
            </a:lvl8pPr>
            <a:lvl9pPr marL="11704320" indent="0">
              <a:buNone/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4A4CC-C1E4-43A3-84BB-6005C5A41B02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3A9CC-3928-45D9-9842-9818140D9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877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463040"/>
            <a:ext cx="10617041" cy="5120640"/>
          </a:xfrm>
        </p:spPr>
        <p:txBody>
          <a:bodyPr anchor="b"/>
          <a:lstStyle>
            <a:lvl1pPr>
              <a:defRPr sz="10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994608" y="3159765"/>
            <a:ext cx="16664940" cy="15595600"/>
          </a:xfrm>
        </p:spPr>
        <p:txBody>
          <a:bodyPr anchor="t"/>
          <a:lstStyle>
            <a:lvl1pPr marL="0" indent="0">
              <a:buNone/>
              <a:defRPr sz="10240"/>
            </a:lvl1pPr>
            <a:lvl2pPr marL="1463040" indent="0">
              <a:buNone/>
              <a:defRPr sz="8960"/>
            </a:lvl2pPr>
            <a:lvl3pPr marL="2926080" indent="0">
              <a:buNone/>
              <a:defRPr sz="7680"/>
            </a:lvl3pPr>
            <a:lvl4pPr marL="4389120" indent="0">
              <a:buNone/>
              <a:defRPr sz="6400"/>
            </a:lvl4pPr>
            <a:lvl5pPr marL="5852160" indent="0">
              <a:buNone/>
              <a:defRPr sz="6400"/>
            </a:lvl5pPr>
            <a:lvl6pPr marL="7315200" indent="0">
              <a:buNone/>
              <a:defRPr sz="6400"/>
            </a:lvl6pPr>
            <a:lvl7pPr marL="8778240" indent="0">
              <a:buNone/>
              <a:defRPr sz="6400"/>
            </a:lvl7pPr>
            <a:lvl8pPr marL="10241280" indent="0">
              <a:buNone/>
              <a:defRPr sz="6400"/>
            </a:lvl8pPr>
            <a:lvl9pPr marL="11704320" indent="0">
              <a:buNone/>
              <a:defRPr sz="6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6583680"/>
            <a:ext cx="10617041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040" indent="0">
              <a:buNone/>
              <a:defRPr sz="4480"/>
            </a:lvl2pPr>
            <a:lvl3pPr marL="2926080" indent="0">
              <a:buNone/>
              <a:defRPr sz="3840"/>
            </a:lvl3pPr>
            <a:lvl4pPr marL="4389120" indent="0">
              <a:buNone/>
              <a:defRPr sz="3200"/>
            </a:lvl4pPr>
            <a:lvl5pPr marL="5852160" indent="0">
              <a:buNone/>
              <a:defRPr sz="3200"/>
            </a:lvl5pPr>
            <a:lvl6pPr marL="7315200" indent="0">
              <a:buNone/>
              <a:defRPr sz="3200"/>
            </a:lvl6pPr>
            <a:lvl7pPr marL="8778240" indent="0">
              <a:buNone/>
              <a:defRPr sz="3200"/>
            </a:lvl7pPr>
            <a:lvl8pPr marL="10241280" indent="0">
              <a:buNone/>
              <a:defRPr sz="3200"/>
            </a:lvl8pPr>
            <a:lvl9pPr marL="11704320" indent="0">
              <a:buNone/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4A4CC-C1E4-43A3-84BB-6005C5A41B02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3A9CC-3928-45D9-9842-9818140D9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408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4A4CC-C1E4-43A3-84BB-6005C5A41B02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3A9CC-3928-45D9-9842-9818140D9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206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557232" y="1168400"/>
            <a:ext cx="7098030" cy="185978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63142" y="1168400"/>
            <a:ext cx="20882610" cy="1859788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4A4CC-C1E4-43A3-84BB-6005C5A41B02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3A9CC-3928-45D9-9842-9818140D9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038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3140" y="1168405"/>
            <a:ext cx="28392120" cy="42418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3140" y="5842000"/>
            <a:ext cx="28392120" cy="139242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C4A4CC-C1E4-43A3-84BB-6005C5A41B02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D3A9CC-3928-45D9-9842-9818140D9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980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926080" rtl="0" eaLnBrk="1" latinLnBrk="0" hangingPunct="1">
        <a:lnSpc>
          <a:spcPct val="90000"/>
        </a:lnSpc>
        <a:spcBef>
          <a:spcPct val="0"/>
        </a:spcBef>
        <a:buNone/>
        <a:defRPr sz="140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31520" indent="-731520" algn="l" defTabSz="2926080" rtl="0" eaLnBrk="1" latinLnBrk="0" hangingPunct="1">
        <a:lnSpc>
          <a:spcPct val="90000"/>
        </a:lnSpc>
        <a:spcBef>
          <a:spcPts val="3200"/>
        </a:spcBef>
        <a:buFont typeface="Arial" panose="020B0604020202020204" pitchFamily="34" charset="0"/>
        <a:buChar char="•"/>
        <a:defRPr sz="896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768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3pPr>
      <a:lvl4pPr marL="512064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804672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950976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97280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243584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1pPr>
      <a:lvl2pPr marL="14630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2pPr>
      <a:lvl3pPr marL="29260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3pPr>
      <a:lvl4pPr marL="43891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585216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731520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87782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2412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17043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>
            <a:extLst>
              <a:ext uri="{FF2B5EF4-FFF2-40B4-BE49-F238E27FC236}">
                <a16:creationId xmlns:a16="http://schemas.microsoft.com/office/drawing/2014/main" id="{4FBFC513-71D2-4A5C-8055-D41E57EEB9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6393" y="4419600"/>
            <a:ext cx="31089600" cy="306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45722" bIns="45722" anchor="t" anchorCtr="1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10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9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7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6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6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6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6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6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6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8500" b="1" dirty="0">
                <a:latin typeface="Baskerville Old Face" panose="02020602080505020303" pitchFamily="18" charset="0"/>
              </a:rPr>
              <a:t>Project Title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3600" b="1" dirty="0">
                <a:latin typeface="Baskerville Old Face" panose="02020602080505020303" pitchFamily="18" charset="0"/>
              </a:rPr>
              <a:t>Dr. Sidike Paheding, Dr. Akshay Mathur. Jan Salafia, Sean Salafia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3600" b="1" dirty="0">
                <a:latin typeface="Baskerville Old Face" panose="02020602080505020303" pitchFamily="18" charset="0"/>
              </a:rPr>
              <a:t>Fairfield University</a:t>
            </a:r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94C61E01-5562-4C35-B8E9-D5BBFB7DC2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6393" y="3352800"/>
            <a:ext cx="31089600" cy="92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 anchorCtr="1">
            <a:spAutoFit/>
          </a:bodyPr>
          <a:lstStyle>
            <a:lvl1pPr eaLnBrk="0" hangingPunct="0">
              <a:spcBef>
                <a:spcPct val="20000"/>
              </a:spcBef>
              <a:buChar char="•"/>
              <a:tabLst>
                <a:tab pos="2971800" algn="ctr"/>
                <a:tab pos="5943600" algn="r"/>
              </a:tabLst>
              <a:defRPr sz="10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2378075" indent="-914400" eaLnBrk="0" hangingPunct="0">
              <a:spcBef>
                <a:spcPct val="20000"/>
              </a:spcBef>
              <a:buChar char="–"/>
              <a:tabLst>
                <a:tab pos="2971800" algn="ctr"/>
                <a:tab pos="5943600" algn="r"/>
              </a:tabLst>
              <a:defRPr sz="9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3657600" indent="-731838" eaLnBrk="0" hangingPunct="0">
              <a:spcBef>
                <a:spcPct val="20000"/>
              </a:spcBef>
              <a:buChar char="•"/>
              <a:tabLst>
                <a:tab pos="2971800" algn="ctr"/>
                <a:tab pos="5943600" algn="r"/>
              </a:tabLst>
              <a:defRPr sz="7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5121275" indent="-731838" eaLnBrk="0" hangingPunct="0">
              <a:spcBef>
                <a:spcPct val="20000"/>
              </a:spcBef>
              <a:buChar char="–"/>
              <a:tabLst>
                <a:tab pos="2971800" algn="ctr"/>
                <a:tab pos="5943600" algn="r"/>
              </a:tabLst>
              <a:defRPr sz="6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6583363" indent="-731838" eaLnBrk="0" hangingPunct="0">
              <a:spcBef>
                <a:spcPct val="20000"/>
              </a:spcBef>
              <a:buChar char="»"/>
              <a:tabLst>
                <a:tab pos="2971800" algn="ctr"/>
                <a:tab pos="5943600" algn="r"/>
              </a:tabLst>
              <a:defRPr sz="6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7040563" indent="-7318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971800" algn="ctr"/>
                <a:tab pos="5943600" algn="r"/>
              </a:tabLst>
              <a:defRPr sz="6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7497763" indent="-7318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971800" algn="ctr"/>
                <a:tab pos="5943600" algn="r"/>
              </a:tabLst>
              <a:defRPr sz="6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7954963" indent="-7318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971800" algn="ctr"/>
                <a:tab pos="5943600" algn="r"/>
              </a:tabLst>
              <a:defRPr sz="6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8412163" indent="-73183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971800" algn="ctr"/>
                <a:tab pos="5943600" algn="r"/>
              </a:tabLst>
              <a:defRPr sz="6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5400">
                <a:latin typeface="Bell MT" panose="02020503060305020303" pitchFamily="18" charset="0"/>
                <a:cs typeface="Times New Roman" panose="02020603050405020304" pitchFamily="18" charset="0"/>
              </a:rPr>
              <a:t>NASA CONNECTICUT SPACE GRANT CONSORTIUM</a:t>
            </a:r>
            <a:endParaRPr lang="en-US" altLang="en-US" sz="540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2319C13-2112-4D6E-83BA-52570106E505}"/>
              </a:ext>
            </a:extLst>
          </p:cNvPr>
          <p:cNvCxnSpPr/>
          <p:nvPr/>
        </p:nvCxnSpPr>
        <p:spPr bwMode="auto">
          <a:xfrm>
            <a:off x="8119193" y="4267200"/>
            <a:ext cx="16764000" cy="0"/>
          </a:xfrm>
          <a:prstGeom prst="line">
            <a:avLst/>
          </a:prstGeom>
          <a:ln w="63500" cmpd="thinThick">
            <a:solidFill>
              <a:srgbClr val="A00F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3">
            <a:extLst>
              <a:ext uri="{FF2B5EF4-FFF2-40B4-BE49-F238E27FC236}">
                <a16:creationId xmlns:a16="http://schemas.microsoft.com/office/drawing/2014/main" id="{848C4EC6-D198-4C89-A85B-AA08C12FE5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39093" y="304800"/>
            <a:ext cx="31242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C67876E-3BE9-E3E0-5C93-93F9F9532469}"/>
              </a:ext>
            </a:extLst>
          </p:cNvPr>
          <p:cNvCxnSpPr>
            <a:cxnSpLocks/>
          </p:cNvCxnSpPr>
          <p:nvPr/>
        </p:nvCxnSpPr>
        <p:spPr>
          <a:xfrm flipH="1">
            <a:off x="0" y="7481888"/>
            <a:ext cx="32918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7F4CFA6-B24D-61EC-A3AE-4F13F06E661A}"/>
              </a:ext>
            </a:extLst>
          </p:cNvPr>
          <p:cNvCxnSpPr/>
          <p:nvPr/>
        </p:nvCxnSpPr>
        <p:spPr>
          <a:xfrm>
            <a:off x="11033760" y="7481888"/>
            <a:ext cx="0" cy="144637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027B48F-B601-CFEC-0A2F-59A738A451F7}"/>
              </a:ext>
            </a:extLst>
          </p:cNvPr>
          <p:cNvCxnSpPr/>
          <p:nvPr/>
        </p:nvCxnSpPr>
        <p:spPr>
          <a:xfrm>
            <a:off x="20951273" y="7481888"/>
            <a:ext cx="0" cy="144637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96669FF4-9314-2D4B-FECA-9E5B1356439F}"/>
              </a:ext>
            </a:extLst>
          </p:cNvPr>
          <p:cNvSpPr/>
          <p:nvPr/>
        </p:nvSpPr>
        <p:spPr>
          <a:xfrm>
            <a:off x="2499378" y="8008620"/>
            <a:ext cx="5619815" cy="124968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Background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33427E1-0044-9C52-B39B-BACDE1DC7C7C}"/>
              </a:ext>
            </a:extLst>
          </p:cNvPr>
          <p:cNvSpPr/>
          <p:nvPr/>
        </p:nvSpPr>
        <p:spPr>
          <a:xfrm>
            <a:off x="201930" y="9582155"/>
            <a:ext cx="10629899" cy="278129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904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</TotalTime>
  <Words>25</Words>
  <Application>Microsoft Office PowerPoint</Application>
  <PresentationFormat>Custom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Baskerville Old Face</vt:lpstr>
      <vt:lpstr>Bell MT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CTSG Staff</dc:creator>
  <cp:lastModifiedBy>Salafia, Sean J.</cp:lastModifiedBy>
  <cp:revision>2</cp:revision>
  <dcterms:created xsi:type="dcterms:W3CDTF">2022-11-15T15:19:06Z</dcterms:created>
  <dcterms:modified xsi:type="dcterms:W3CDTF">2025-10-29T17:26:32Z</dcterms:modified>
</cp:coreProperties>
</file>